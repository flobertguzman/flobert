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3b48c17-2251-05a7-3544-8b66992c0a4f}">
          <p14:sldIdLst>
            <p14:sldId id="256"/>
          </p14:sldIdLst>
        </p14:section>
        <p14:section name="El reto" id="{af31c753-6ba8-df23-f1f0-fe65aa7fc5f8}">
          <p14:sldIdLst>
            <p14:sldId id="257"/>
          </p14:sldIdLst>
        </p14:section>
        <p14:section name="Insights" id="{2383ecbe-0ab6-1f0c-bc80-2e566c47d26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oncepto" id="{318b4f5f-45b7-c610-1bc4-3de898b06db5}">
          <p14:sldIdLst>
            <p14:sldId id="264"/>
            <p14:sldId id="265"/>
            <p14:sldId id="266"/>
            <p14:sldId id="267"/>
            <p14:sldId id="268"/>
          </p14:sldIdLst>
        </p14:section>
        <p14:section name="Reason why" id="{15b625b0-6b3d-d1cc-2b96-9c9861a8011f}">
          <p14:sldIdLst>
            <p14:sldId id="269"/>
            <p14:sldId id="270"/>
            <p14:sldId id="271"/>
            <p14:sldId id="272"/>
          </p14:sldIdLst>
        </p14:section>
        <p14:section name="Piezas gráficas" id="{51809602-19e7-f34d-ed8b-5043f8502a7f}">
          <p14:sldIdLst>
            <p14:sldId id="273"/>
            <p14:sldId id="274"/>
          </p14:sldIdLst>
        </p14:section>
        <p14:section name="Cierre" id="{fba45eb0-d6f2-be78-1d77-8d8ff64ab087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Abrimos con la firma de campaña. Chayi es la IA de la casa: protagonista y guía de toda la comunicación.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2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2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6400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2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Viva · Pide más · Campaña Navidad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Viva · Pide más · Campaña Navidad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rgbClr val="2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Viva · Pide más · Campaña Navidad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VIVA · CAMPAÑA NAVIDAD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chemeClr val="bg1"/>
                </a:solidFill>
              </a:rPr>
              <a:t>Pide más.</a:t>
            </a:r>
            <a:endParaRPr lang="en-US" sz="8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Chayi, la IA que casi siempre te entiende… y que sabe a quién pasarle el pedido.</a:t>
            </a:r>
            <a:endParaRPr lang="en-US" sz="2200" dirty="0"/>
          </a:p>
        </p:txBody>
      </p:sp>
      <p:sp>
        <p:nvSpPr>
          <p:cNvPr id="5" name="Halo Chayi"/>
          <p:cNvSpPr/>
          <p:nvPr/>
        </p:nvSpPr>
        <p:spPr>
          <a:xfrm>
            <a:off x="7818120" y="914400"/>
            <a:ext cx="3657600" cy="36576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Chay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143000"/>
            <a:ext cx="3108960" cy="3108960"/>
          </a:xfrm>
          <a:prstGeom prst="rect">
            <a:avLst/>
          </a:prstGeom>
        </p:spPr>
      </p:pic>
      <p:sp>
        <p:nvSpPr>
          <p:cNvPr id="7" name="Burbuja"/>
          <p:cNvSpPr/>
          <p:nvPr/>
        </p:nvSpPr>
        <p:spPr>
          <a:xfrm>
            <a:off x="7040880" y="4572000"/>
            <a:ext cx="4206240" cy="566928"/>
          </a:xfrm>
          <a:prstGeom prst="round2DiagRect">
            <a:avLst>
              <a:gd name="adj" fmla="val 56452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Chayi, ¿y si me das el doble de internet?</a:t>
            </a:r>
            <a:endParaRPr lang="en-US" sz="1500" dirty="0"/>
          </a:p>
        </p:txBody>
      </p:sp>
      <p:sp>
        <p:nvSpPr>
          <p:cNvPr id="8" name="Burbuja"/>
          <p:cNvSpPr/>
          <p:nvPr/>
        </p:nvSpPr>
        <p:spPr>
          <a:xfrm flipH="1">
            <a:off x="8503920" y="5303520"/>
            <a:ext cx="3017520" cy="566928"/>
          </a:xfrm>
          <a:prstGeom prst="round2DiagRect">
            <a:avLst>
              <a:gd name="adj" fmla="val 56452"/>
            </a:avLst>
          </a:prstGeom>
          <a:solidFill>
            <a:schemeClr val="accent3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Eso te lo da Viva.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6172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Presentación de concepto · Insights · Reason why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reto: que esta Navidad nos pidan más a nosotros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Diciembre es el mes en que más se conecta, se comparte y se celebra. Necesitamos una idea con la que la gente se ría, se reconozca y entienda en segundos por qué Viva le da más.</a:t>
            </a:r>
            <a:endParaRPr lang="en-US" sz="1600" dirty="0"/>
          </a:p>
        </p:txBody>
      </p:sp>
      <p:sp>
        <p:nvSpPr>
          <p:cNvPr id="4" name="Círculo icono"/>
          <p:cNvSpPr/>
          <p:nvPr/>
        </p:nvSpPr>
        <p:spPr>
          <a:xfrm>
            <a:off x="548640" y="2971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MdSwapHoriz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31501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29535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Portabilidad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330098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Atraer usuarios de otras compañías a Viva, en Prepago y en Planes Infinito.</a:t>
            </a:r>
            <a:endParaRPr lang="en-US" sz="1400" dirty="0"/>
          </a:p>
        </p:txBody>
      </p:sp>
      <p:sp>
        <p:nvSpPr>
          <p:cNvPr id="8" name="Círculo icono"/>
          <p:cNvSpPr/>
          <p:nvPr/>
        </p:nvSpPr>
        <p:spPr>
          <a:xfrm>
            <a:off x="548640" y="4023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o MdBol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42016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4005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Activaciones prepago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435254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Mover la activación del Plan Prepago con una oferta que se entienda al primer vistazo.</a:t>
            </a:r>
            <a:endParaRPr lang="en-US" sz="1400" dirty="0"/>
          </a:p>
        </p:txBody>
      </p:sp>
      <p:sp>
        <p:nvSpPr>
          <p:cNvPr id="12" name="Círculo icono"/>
          <p:cNvSpPr/>
          <p:nvPr/>
        </p:nvSpPr>
        <p:spPr>
          <a:xfrm>
            <a:off x="548640" y="5074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o MdTrendingU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52532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50566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Migración a Infinito Plus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54041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Llevar a los clientes desde el Plan XS hacia Planes Infinito Plus.</a:t>
            </a:r>
            <a:endParaRPr lang="en-US" sz="1400" dirty="0"/>
          </a:p>
        </p:txBody>
      </p:sp>
      <p:sp>
        <p:nvSpPr>
          <p:cNvPr id="16" name="Espacio gráfica: ESPACIO PARA GRÁFICA"/>
          <p:cNvSpPr/>
          <p:nvPr/>
        </p:nvSpPr>
        <p:spPr>
          <a:xfrm>
            <a:off x="6035040" y="1417320"/>
            <a:ext cx="557784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17" name="Icono espacio gráfi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88036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17920" y="36301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ESPACIO PARA GRÁFICA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39410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Contexto de negocio: share de portabilidad, base prepago vs. Infinito y meta de la temporada (fuente: Viva BI).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Insights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069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Lo que la gente vive (y se ríe) cuando le pide algo a la IA.</a:t>
            </a:r>
            <a:endParaRPr lang="en-US" sz="2000" dirty="0"/>
          </a:p>
        </p:txBody>
      </p:sp>
      <p:pic>
        <p:nvPicPr>
          <p:cNvPr id="5" name="Chayi pensand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554480"/>
            <a:ext cx="2926080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Insight principal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 pedimos algo a la IA… </a:t>
            </a:r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 veces nos sale con otra cosa.”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690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La IA ya es parte de la casa: le preguntamos recetas, ideas y hasta consejos. Pero cuando no nos entiende, el resultado es tan inesperado que no queda más que reírse. Ese malentendido cotidiano es nuestro territorio de humor.</a:t>
            </a:r>
            <a:endParaRPr lang="en-US" sz="1600" dirty="0"/>
          </a:p>
        </p:txBody>
      </p:sp>
      <p:sp>
        <p:nvSpPr>
          <p:cNvPr id="5" name="Burbuja"/>
          <p:cNvSpPr/>
          <p:nvPr/>
        </p:nvSpPr>
        <p:spPr>
          <a:xfrm>
            <a:off x="7406640" y="1554480"/>
            <a:ext cx="4023360" cy="685800"/>
          </a:xfrm>
          <a:prstGeom prst="round2Diag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Chayi, ¿cómo le pongo más sazón a la cena?</a:t>
            </a:r>
            <a:endParaRPr lang="en-US" sz="1600" dirty="0"/>
          </a:p>
        </p:txBody>
      </p:sp>
      <p:sp>
        <p:nvSpPr>
          <p:cNvPr id="6" name="Burbuja"/>
          <p:cNvSpPr/>
          <p:nvPr/>
        </p:nvSpPr>
        <p:spPr>
          <a:xfrm flipH="1">
            <a:off x="8138160" y="2423160"/>
            <a:ext cx="3291840" cy="685800"/>
          </a:xfrm>
          <a:prstGeom prst="round2DiagRect">
            <a:avLst>
              <a:gd name="adj" fmla="val 46667"/>
            </a:avLst>
          </a:prstGeom>
          <a:solidFill>
            <a:schemeClr val="accent2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¡Claro! Aquí va un merengue.</a:t>
            </a:r>
            <a:endParaRPr lang="en-US" sz="1600" dirty="0"/>
          </a:p>
        </p:txBody>
      </p:sp>
      <p:sp>
        <p:nvSpPr>
          <p:cNvPr id="7" name="Burbuja"/>
          <p:cNvSpPr/>
          <p:nvPr/>
        </p:nvSpPr>
        <p:spPr>
          <a:xfrm>
            <a:off x="7406640" y="3429000"/>
            <a:ext cx="4023360" cy="685800"/>
          </a:xfrm>
          <a:prstGeom prst="round2Diag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No, Chayi… hablo de más sabor.</a:t>
            </a:r>
            <a:endParaRPr lang="en-US" sz="1600" dirty="0"/>
          </a:p>
        </p:txBody>
      </p:sp>
      <p:sp>
        <p:nvSpPr>
          <p:cNvPr id="8" name="Burbuja"/>
          <p:cNvSpPr/>
          <p:nvPr/>
        </p:nvSpPr>
        <p:spPr>
          <a:xfrm flipH="1">
            <a:off x="8138160" y="4297680"/>
            <a:ext cx="3291840" cy="685800"/>
          </a:xfrm>
          <a:prstGeom prst="round2DiagRect">
            <a:avLst>
              <a:gd name="adj" fmla="val 46667"/>
            </a:avLst>
          </a:prstGeom>
          <a:solidFill>
            <a:schemeClr val="accent2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Ah… ¡ahora sí! Una bachatica.</a:t>
            </a:r>
            <a:endParaRPr lang="en-US" sz="1600" dirty="0"/>
          </a:p>
        </p:txBody>
      </p:sp>
      <p:pic>
        <p:nvPicPr>
          <p:cNvPr id="9" name="Chay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07492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le pides a la IA vs. lo que te 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LO QUE PIDES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3550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LO QUE TE DA</a:t>
            </a:r>
            <a:endParaRPr lang="en-US" sz="1200" dirty="0"/>
          </a:p>
        </p:txBody>
      </p:sp>
      <p:sp>
        <p:nvSpPr>
          <p:cNvPr id="5" name="Burbuja"/>
          <p:cNvSpPr/>
          <p:nvPr/>
        </p:nvSpPr>
        <p:spPr>
          <a:xfrm>
            <a:off x="548640" y="1783080"/>
            <a:ext cx="5120640" cy="713232"/>
          </a:xfrm>
          <a:prstGeom prst="round2DiagRect">
            <a:avLst>
              <a:gd name="adj" fmla="val 44872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Una foto de la familia en Navidad</a:t>
            </a:r>
            <a:endParaRPr lang="en-US" sz="1600" dirty="0"/>
          </a:p>
        </p:txBody>
      </p:sp>
      <p:pic>
        <p:nvPicPr>
          <p:cNvPr id="6" name="Flech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65960"/>
            <a:ext cx="347472" cy="347472"/>
          </a:xfrm>
          <a:prstGeom prst="rect">
            <a:avLst/>
          </a:prstGeom>
        </p:spPr>
      </p:pic>
      <p:sp>
        <p:nvSpPr>
          <p:cNvPr id="7" name="Burbuja"/>
          <p:cNvSpPr/>
          <p:nvPr/>
        </p:nvSpPr>
        <p:spPr>
          <a:xfrm flipH="1">
            <a:off x="6355080" y="1783080"/>
            <a:ext cx="5257800" cy="713232"/>
          </a:xfrm>
          <a:prstGeom prst="round2DiagRect">
            <a:avLst>
              <a:gd name="adj" fmla="val 44872"/>
            </a:avLst>
          </a:prstGeom>
          <a:solidFill>
            <a:schemeClr val="accent2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Una familia preciosa… con seis dedos por mano</a:t>
            </a:r>
            <a:endParaRPr lang="en-US" sz="1600" dirty="0"/>
          </a:p>
        </p:txBody>
      </p:sp>
      <p:sp>
        <p:nvSpPr>
          <p:cNvPr id="8" name="Burbuja"/>
          <p:cNvSpPr/>
          <p:nvPr/>
        </p:nvSpPr>
        <p:spPr>
          <a:xfrm>
            <a:off x="548640" y="2743200"/>
            <a:ext cx="5120640" cy="713232"/>
          </a:xfrm>
          <a:prstGeom prst="round2DiagRect">
            <a:avLst>
              <a:gd name="adj" fmla="val 44872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 mensaje cariñoso para mi suegra</a:t>
            </a:r>
            <a:endParaRPr lang="en-US" sz="1600" dirty="0"/>
          </a:p>
        </p:txBody>
      </p:sp>
      <p:pic>
        <p:nvPicPr>
          <p:cNvPr id="9" name="Flech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926080"/>
            <a:ext cx="347472" cy="347472"/>
          </a:xfrm>
          <a:prstGeom prst="rect">
            <a:avLst/>
          </a:prstGeom>
        </p:spPr>
      </p:pic>
      <p:sp>
        <p:nvSpPr>
          <p:cNvPr id="10" name="Burbuja"/>
          <p:cNvSpPr/>
          <p:nvPr/>
        </p:nvSpPr>
        <p:spPr>
          <a:xfrm flipH="1">
            <a:off x="6355080" y="2743200"/>
            <a:ext cx="5257800" cy="713232"/>
          </a:xfrm>
          <a:prstGeom prst="round2DiagRect">
            <a:avLst>
              <a:gd name="adj" fmla="val 44872"/>
            </a:avLst>
          </a:prstGeom>
          <a:solidFill>
            <a:schemeClr val="accent2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 poema épico de catorce estrofas</a:t>
            </a:r>
            <a:endParaRPr lang="en-US" sz="1600" dirty="0"/>
          </a:p>
        </p:txBody>
      </p:sp>
      <p:sp>
        <p:nvSpPr>
          <p:cNvPr id="11" name="Burbuja"/>
          <p:cNvSpPr/>
          <p:nvPr/>
        </p:nvSpPr>
        <p:spPr>
          <a:xfrm>
            <a:off x="548640" y="3703320"/>
            <a:ext cx="5120640" cy="713232"/>
          </a:xfrm>
          <a:prstGeom prst="round2DiagRect">
            <a:avLst>
              <a:gd name="adj" fmla="val 44872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receta del pastelón de la abuela</a:t>
            </a:r>
            <a:endParaRPr lang="en-US" sz="1600" dirty="0"/>
          </a:p>
        </p:txBody>
      </p:sp>
      <p:pic>
        <p:nvPicPr>
          <p:cNvPr id="12" name="Flech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886200"/>
            <a:ext cx="347472" cy="347472"/>
          </a:xfrm>
          <a:prstGeom prst="rect">
            <a:avLst/>
          </a:prstGeom>
        </p:spPr>
      </p:pic>
      <p:sp>
        <p:nvSpPr>
          <p:cNvPr id="13" name="Burbuja"/>
          <p:cNvSpPr/>
          <p:nvPr/>
        </p:nvSpPr>
        <p:spPr>
          <a:xfrm flipH="1">
            <a:off x="6355080" y="3703320"/>
            <a:ext cx="5257800" cy="713232"/>
          </a:xfrm>
          <a:prstGeom prst="round2DiagRect">
            <a:avLst>
              <a:gd name="adj" fmla="val 44872"/>
            </a:avLst>
          </a:prstGeom>
          <a:solidFill>
            <a:schemeClr val="accent2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Pastelón de plátano… con chocolate y salmón</a:t>
            </a:r>
            <a:endParaRPr lang="en-US" sz="1600" dirty="0"/>
          </a:p>
        </p:txBody>
      </p:sp>
      <p:sp>
        <p:nvSpPr>
          <p:cNvPr id="14" name="Burbuja"/>
          <p:cNvSpPr/>
          <p:nvPr/>
        </p:nvSpPr>
        <p:spPr>
          <a:xfrm>
            <a:off x="548640" y="4663440"/>
            <a:ext cx="5120640" cy="713232"/>
          </a:xfrm>
          <a:prstGeom prst="round2DiagRect">
            <a:avLst>
              <a:gd name="adj" fmla="val 44872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 resumen cortico, por favor</a:t>
            </a:r>
            <a:endParaRPr lang="en-US" sz="1600" dirty="0"/>
          </a:p>
        </p:txBody>
      </p:sp>
      <p:pic>
        <p:nvPicPr>
          <p:cNvPr id="15" name="Flech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4846320"/>
            <a:ext cx="347472" cy="347472"/>
          </a:xfrm>
          <a:prstGeom prst="rect">
            <a:avLst/>
          </a:prstGeom>
        </p:spPr>
      </p:pic>
      <p:sp>
        <p:nvSpPr>
          <p:cNvPr id="16" name="Burbuja"/>
          <p:cNvSpPr/>
          <p:nvPr/>
        </p:nvSpPr>
        <p:spPr>
          <a:xfrm flipH="1">
            <a:off x="6355080" y="4663440"/>
            <a:ext cx="5257800" cy="713232"/>
          </a:xfrm>
          <a:prstGeom prst="round2DiagRect">
            <a:avLst>
              <a:gd name="adj" fmla="val 44872"/>
            </a:avLst>
          </a:prstGeom>
          <a:solidFill>
            <a:schemeClr val="accent2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 ensayo de tres páginas con conclusiones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Todos lo hemos vivido. Y a todos nos da risa.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Tres verdades que sostienen la idea</a:t>
            </a:r>
            <a:endParaRPr lang="en-US" sz="3200" dirty="0"/>
          </a:p>
        </p:txBody>
      </p:sp>
      <p:sp>
        <p:nvSpPr>
          <p:cNvPr id="3" name="Tarjeta insight"/>
          <p:cNvSpPr/>
          <p:nvPr/>
        </p:nvSpPr>
        <p:spPr>
          <a:xfrm>
            <a:off x="548640" y="1463040"/>
            <a:ext cx="3520440" cy="452628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/>
        </p:spPr>
      </p:sp>
      <p:sp>
        <p:nvSpPr>
          <p:cNvPr id="4" name="Círculo icono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MdMusicNo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1985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017520" y="18288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Navidad dominicana se cocina a ritmo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Sazón, música y familia van juntos. En diciembre la casa suena a merengue y bachata mientras se prepara la cena.</a:t>
            </a:r>
            <a:endParaRPr lang="en-US" sz="1500" dirty="0"/>
          </a:p>
        </p:txBody>
      </p:sp>
      <p:sp>
        <p:nvSpPr>
          <p:cNvPr id="9" name="Tarjeta insight"/>
          <p:cNvSpPr/>
          <p:nvPr/>
        </p:nvSpPr>
        <p:spPr>
          <a:xfrm>
            <a:off x="4297680" y="1463040"/>
            <a:ext cx="3520440" cy="452628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/>
        </p:spPr>
      </p:sp>
      <p:sp>
        <p:nvSpPr>
          <p:cNvPr id="10" name="Círculo icono"/>
          <p:cNvSpPr/>
          <p:nvPr/>
        </p:nvSpPr>
        <p:spPr>
          <a:xfrm>
            <a:off x="4617720" y="1783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o MdDevic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802" y="19851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66560" y="18288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02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casa está conectada, cada quien en su pantalla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9319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Mamá cocina con el celular al lado, papá en la laptop, la abuela en WhatsApp y los niños en la tablet.</a:t>
            </a:r>
            <a:endParaRPr lang="en-US" sz="1500" dirty="0"/>
          </a:p>
        </p:txBody>
      </p:sp>
      <p:sp>
        <p:nvSpPr>
          <p:cNvPr id="15" name="Tarjeta insight"/>
          <p:cNvSpPr/>
          <p:nvPr/>
        </p:nvSpPr>
        <p:spPr>
          <a:xfrm>
            <a:off x="8046720" y="1463040"/>
            <a:ext cx="3520440" cy="452628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/>
        </p:spPr>
      </p:sp>
      <p:sp>
        <p:nvSpPr>
          <p:cNvPr id="16" name="Círculo icono"/>
          <p:cNvSpPr/>
          <p:nvPr/>
        </p:nvSpPr>
        <p:spPr>
          <a:xfrm>
            <a:off x="8366760" y="17830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o MdDataUs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842" y="198516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515600" y="18288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03</a:t>
            </a:r>
            <a:endParaRPr lang="en-US" sz="30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diciembre la data no alcanza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9319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Videollamadas con la familia de fuera, fotos, videos y música: el consumo sube justo cuando más compartimos.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dicen los datos</a:t>
            </a:r>
            <a:endParaRPr lang="en-US" sz="3200" dirty="0"/>
          </a:p>
        </p:txBody>
      </p:sp>
      <p:sp>
        <p:nvSpPr>
          <p:cNvPr id="3" name="Espacio gráfica: GRÁFICA 1"/>
          <p:cNvSpPr/>
          <p:nvPr/>
        </p:nvSpPr>
        <p:spPr>
          <a:xfrm>
            <a:off x="548640" y="1417320"/>
            <a:ext cx="548640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4" name="Icono espacio gráfi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2631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30129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GRÁFICA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3238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Consumo de data móvil por mes: diciembre vs. promedio del año (fuente: Viva BI).</a:t>
            </a:r>
            <a:endParaRPr lang="en-US" sz="1200" dirty="0"/>
          </a:p>
        </p:txBody>
      </p:sp>
      <p:sp>
        <p:nvSpPr>
          <p:cNvPr id="7" name="Espacio gráfica: GRÁFICA 2"/>
          <p:cNvSpPr/>
          <p:nvPr/>
        </p:nvSpPr>
        <p:spPr>
          <a:xfrm>
            <a:off x="6263640" y="1417320"/>
            <a:ext cx="53492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8" name="Icono espacio gráfi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20" y="22631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46520" y="301294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GRÁFICA 2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332384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Uso de asistentes de IA en RD por grupo de edad (fuente: estudio de mercado).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937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2103120" y="4983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usuarios que ya usa IA en el celular  · dato a completar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4937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4983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más consumo de data en diciembre  · dato a completar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46720" y="4937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00%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0" y="4983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dice que la IA «no le entendió» alguna vez  · dato a completar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la tensión al rol de marca</a:t>
            </a:r>
            <a:endParaRPr lang="en-US" sz="3200" dirty="0"/>
          </a:p>
        </p:txBody>
      </p:sp>
      <p:sp>
        <p:nvSpPr>
          <p:cNvPr id="3" name="Tensión"/>
          <p:cNvSpPr/>
          <p:nvPr/>
        </p:nvSpPr>
        <p:spPr>
          <a:xfrm>
            <a:off x="548640" y="1463040"/>
            <a:ext cx="5303520" cy="30175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Rol de marca"/>
          <p:cNvSpPr/>
          <p:nvPr/>
        </p:nvSpPr>
        <p:spPr>
          <a:xfrm>
            <a:off x="6309360" y="1463040"/>
            <a:ext cx="5303520" cy="301752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LA TENSIÓN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 IA promete entenderlo todo, pero a veces se inventa lo que pediste. Es simpático… hasta que lo que necesitas es algo concreto.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EL ROL DE VIVA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1945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Cuando lo que pides es más internet, no hay malentendido posible: Viva te da el doble. Somos la respuesta clara al final de la broma.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00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a veces no te entiende. </a:t>
            </a:r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 sí.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Concepto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069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Una idea simple, dominicana y con remate de marca.</a:t>
            </a:r>
            <a:endParaRPr lang="en-US" sz="2000" dirty="0"/>
          </a:p>
        </p:txBody>
      </p:sp>
      <p:pic>
        <p:nvPicPr>
          <p:cNvPr id="5" name="Chay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554480"/>
            <a:ext cx="2926080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El concepto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más.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Esta Navidad invitamos a todos a pedir más. Chayi, la IA de la casa, intenta complacer cada pedido… pero lo entiende a su manera. El humor nace del malentendido; la respuesta clara la tiene Viva.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Remate de marca:  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«Eso te lo da Viva.»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257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Firma:  Esta Navidad, pide más. Viva, estamos de tu lado.</a:t>
            </a:r>
            <a:endParaRPr lang="en-US" sz="1500" dirty="0"/>
          </a:p>
        </p:txBody>
      </p:sp>
      <p:sp>
        <p:nvSpPr>
          <p:cNvPr id="7" name="Pilar"/>
          <p:cNvSpPr/>
          <p:nvPr/>
        </p:nvSpPr>
        <p:spPr>
          <a:xfrm>
            <a:off x="7132320" y="1417320"/>
            <a:ext cx="4480560" cy="1280160"/>
          </a:xfrm>
          <a:prstGeom prst="roundRect">
            <a:avLst>
              <a:gd name="adj" fmla="val 10714"/>
            </a:avLst>
          </a:prstGeom>
          <a:solidFill>
            <a:schemeClr val="accent6"/>
          </a:solidFill>
          <a:ln/>
        </p:spPr>
      </p:sp>
      <p:sp>
        <p:nvSpPr>
          <p:cNvPr id="8" name="Círculo icono"/>
          <p:cNvSpPr/>
          <p:nvPr/>
        </p:nvSpPr>
        <p:spPr>
          <a:xfrm>
            <a:off x="736092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o MdSentimentVerySatisfi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115" y="188183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321040" y="1618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Humor de la vida real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1984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 malentendido con la IA que todos hemos vivido.</a:t>
            </a:r>
            <a:endParaRPr lang="en-US" sz="1400" dirty="0"/>
          </a:p>
        </p:txBody>
      </p:sp>
      <p:sp>
        <p:nvSpPr>
          <p:cNvPr id="12" name="Pilar"/>
          <p:cNvSpPr/>
          <p:nvPr/>
        </p:nvSpPr>
        <p:spPr>
          <a:xfrm>
            <a:off x="7132320" y="2880360"/>
            <a:ext cx="4480560" cy="1280160"/>
          </a:xfrm>
          <a:prstGeom prst="roundRect">
            <a:avLst>
              <a:gd name="adj" fmla="val 10714"/>
            </a:avLst>
          </a:prstGeom>
          <a:solidFill>
            <a:schemeClr val="accent6"/>
          </a:solidFill>
          <a:ln/>
        </p:spPr>
      </p:sp>
      <p:sp>
        <p:nvSpPr>
          <p:cNvPr id="13" name="Círculo icono"/>
          <p:cNvSpPr/>
          <p:nvPr/>
        </p:nvSpPr>
        <p:spPr>
          <a:xfrm>
            <a:off x="7360920" y="31546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o MdCelebr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15" y="33448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321040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Cultura dominicana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321040" y="3447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Merengue, bachata, sazón y familia en la misma escena.</a:t>
            </a:r>
            <a:endParaRPr lang="en-US" sz="1400" dirty="0"/>
          </a:p>
        </p:txBody>
      </p:sp>
      <p:sp>
        <p:nvSpPr>
          <p:cNvPr id="17" name="Pilar"/>
          <p:cNvSpPr/>
          <p:nvPr/>
        </p:nvSpPr>
        <p:spPr>
          <a:xfrm>
            <a:off x="7132320" y="4343400"/>
            <a:ext cx="4480560" cy="1280160"/>
          </a:xfrm>
          <a:prstGeom prst="roundRect">
            <a:avLst>
              <a:gd name="adj" fmla="val 10714"/>
            </a:avLst>
          </a:prstGeom>
          <a:solidFill>
            <a:schemeClr val="accent6"/>
          </a:solidFill>
          <a:ln/>
        </p:spPr>
      </p:sp>
      <p:sp>
        <p:nvSpPr>
          <p:cNvPr id="18" name="Círculo icono"/>
          <p:cNvSpPr/>
          <p:nvPr/>
        </p:nvSpPr>
        <p:spPr>
          <a:xfrm>
            <a:off x="7360920" y="46177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cono Md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115" y="480791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4544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Oferta clara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4910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Cada historia termina en un beneficio concreto de Viva.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fórmula del humor: cómo funciona cada historia</a:t>
            </a:r>
            <a:endParaRPr lang="en-US" sz="3200" dirty="0"/>
          </a:p>
        </p:txBody>
      </p:sp>
      <p:sp>
        <p:nvSpPr>
          <p:cNvPr id="3" name="Paso"/>
          <p:cNvSpPr/>
          <p:nvPr/>
        </p:nvSpPr>
        <p:spPr>
          <a:xfrm>
            <a:off x="1188720" y="16459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Conector"/>
          <p:cNvSpPr/>
          <p:nvPr/>
        </p:nvSpPr>
        <p:spPr>
          <a:xfrm>
            <a:off x="2148840" y="2075688"/>
            <a:ext cx="112471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pedido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Alguien le pide algo a Chayi con toda la confianza.</a:t>
            </a:r>
            <a:endParaRPr lang="en-US" sz="1400" dirty="0"/>
          </a:p>
        </p:txBody>
      </p:sp>
      <p:sp>
        <p:nvSpPr>
          <p:cNvPr id="8" name="Paso"/>
          <p:cNvSpPr/>
          <p:nvPr/>
        </p:nvSpPr>
        <p:spPr>
          <a:xfrm>
            <a:off x="3456432" y="16459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56432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Conector"/>
          <p:cNvSpPr/>
          <p:nvPr/>
        </p:nvSpPr>
        <p:spPr>
          <a:xfrm>
            <a:off x="4416552" y="2075688"/>
            <a:ext cx="112471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816352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 ocurrencia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3200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Chayi lo entiende literal y responde con otra cosa.</a:t>
            </a:r>
            <a:endParaRPr lang="en-US" sz="1400" dirty="0"/>
          </a:p>
        </p:txBody>
      </p:sp>
      <p:sp>
        <p:nvSpPr>
          <p:cNvPr id="13" name="Paso"/>
          <p:cNvSpPr/>
          <p:nvPr/>
        </p:nvSpPr>
        <p:spPr>
          <a:xfrm>
            <a:off x="5724144" y="16459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24144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15" name="Conector"/>
          <p:cNvSpPr/>
          <p:nvPr/>
        </p:nvSpPr>
        <p:spPr>
          <a:xfrm>
            <a:off x="6684264" y="2075688"/>
            <a:ext cx="112471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084064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 reacción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29784" y="3200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familia se ríe; quien pidió entra en el juego.</a:t>
            </a:r>
            <a:endParaRPr lang="en-US" sz="1400" dirty="0"/>
          </a:p>
        </p:txBody>
      </p:sp>
      <p:sp>
        <p:nvSpPr>
          <p:cNvPr id="18" name="Paso"/>
          <p:cNvSpPr/>
          <p:nvPr/>
        </p:nvSpPr>
        <p:spPr>
          <a:xfrm>
            <a:off x="7991856" y="16459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91856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20" name="Conector"/>
          <p:cNvSpPr/>
          <p:nvPr/>
        </p:nvSpPr>
        <p:spPr>
          <a:xfrm>
            <a:off x="8951976" y="2075688"/>
            <a:ext cx="112471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351776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pedido real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97496" y="3200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fin se pide lo que de verdad hace falta: más.</a:t>
            </a:r>
            <a:endParaRPr lang="en-US" sz="1400" dirty="0"/>
          </a:p>
        </p:txBody>
      </p:sp>
      <p:sp>
        <p:nvSpPr>
          <p:cNvPr id="23" name="Paso"/>
          <p:cNvSpPr/>
          <p:nvPr/>
        </p:nvSpPr>
        <p:spPr>
          <a:xfrm>
            <a:off x="10259568" y="164592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59568" y="1645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619488" y="2743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remate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65208" y="32004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«Eso te lo da Viva.» Y entra la oferta.</a:t>
            </a:r>
            <a:endParaRPr lang="en-US" sz="1400" dirty="0"/>
          </a:p>
        </p:txBody>
      </p:sp>
      <p:sp>
        <p:nvSpPr>
          <p:cNvPr id="27" name="Regla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47548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Regla de oro: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chiste nunca es contra la persona ni contra la tecnología. Chayi se equivoca con cariño, la familia se divierte y Viva cierra con una respuesta concreta. Funciona en 45", 30", 15" y en piezas gráficas.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Chayi: la IA que guía la campaña</a:t>
            </a:r>
            <a:endParaRPr lang="en-US" sz="3200" dirty="0"/>
          </a:p>
        </p:txBody>
      </p:sp>
      <p:sp>
        <p:nvSpPr>
          <p:cNvPr id="3" name="Halo Chayi"/>
          <p:cNvSpPr/>
          <p:nvPr/>
        </p:nvSpPr>
        <p:spPr>
          <a:xfrm>
            <a:off x="685800" y="1600200"/>
            <a:ext cx="3108960" cy="310896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" name="Chay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92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Servicial, rítmica y un poquito literal. Siempre quiere ayudar… a su manera.</a:t>
            </a:r>
            <a:endParaRPr lang="en-US" sz="1500" dirty="0"/>
          </a:p>
        </p:txBody>
      </p:sp>
      <p:sp>
        <p:nvSpPr>
          <p:cNvPr id="6" name="Rasgo"/>
          <p:cNvSpPr/>
          <p:nvPr/>
        </p:nvSpPr>
        <p:spPr>
          <a:xfrm>
            <a:off x="4434840" y="141732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6634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Servicial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Nunca dice que no; siempre «te ayuda con eso».</a:t>
            </a:r>
            <a:endParaRPr lang="en-US" sz="1400" dirty="0"/>
          </a:p>
        </p:txBody>
      </p:sp>
      <p:sp>
        <p:nvSpPr>
          <p:cNvPr id="9" name="Rasgo"/>
          <p:cNvSpPr/>
          <p:nvPr/>
        </p:nvSpPr>
        <p:spPr>
          <a:xfrm>
            <a:off x="8092440" y="141732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Literal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Toma las palabras al pie de la letra: ahí está el chiste.</a:t>
            </a:r>
            <a:endParaRPr lang="en-US" sz="1400" dirty="0"/>
          </a:p>
        </p:txBody>
      </p:sp>
      <p:sp>
        <p:nvSpPr>
          <p:cNvPr id="12" name="Rasgo"/>
          <p:cNvSpPr/>
          <p:nvPr/>
        </p:nvSpPr>
        <p:spPr>
          <a:xfrm>
            <a:off x="4434840" y="269748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634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Fiestera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 lenguaje es la música dominicana.</a:t>
            </a:r>
            <a:endParaRPr lang="en-US" sz="1400" dirty="0"/>
          </a:p>
        </p:txBody>
      </p:sp>
      <p:sp>
        <p:nvSpPr>
          <p:cNvPr id="15" name="Rasgo"/>
          <p:cNvSpPr/>
          <p:nvPr/>
        </p:nvSpPr>
        <p:spPr>
          <a:xfrm>
            <a:off x="8092440" y="269748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210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Honesta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Sabe cuándo pasarle el pedido a Viva.</a:t>
            </a:r>
            <a:endParaRPr lang="en-US" sz="1400" dirty="0"/>
          </a:p>
        </p:txBody>
      </p:sp>
      <p:sp>
        <p:nvSpPr>
          <p:cNvPr id="18" name="Tono Sí"/>
          <p:cNvSpPr/>
          <p:nvPr/>
        </p:nvSpPr>
        <p:spPr>
          <a:xfrm>
            <a:off x="4434840" y="406908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6344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SÍ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Tono cálido y de confianza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Equivocarse con gracia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Cerrar siempre en Viva</a:t>
            </a:r>
            <a:endParaRPr lang="en-US" sz="1400" dirty="0"/>
          </a:p>
        </p:txBody>
      </p:sp>
      <p:sp>
        <p:nvSpPr>
          <p:cNvPr id="21" name="Tono No"/>
          <p:cNvSpPr/>
          <p:nvPr/>
        </p:nvSpPr>
        <p:spPr>
          <a:xfrm>
            <a:off x="8092440" y="406908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104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NO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Burlarse del usuario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Hacer que la IA dé miedo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marcas de terceros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434840" y="562356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Nota legal: Chayi es un personaje propio de Viva, inspirado en los asistentes de IA. No usamos nombre, logo ni interfaz de ninguna marca de terceros.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La idea en acción: «La cena de Navidad»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Mamá quiere darle más sabor a la cena. Chayi le pone ritmo a la casa. Entre merengue, bachata y las reacciones de la familia, un pedido inesperado lleva la historia a Viva.</a:t>
            </a:r>
            <a:endParaRPr lang="en-US" sz="1600" dirty="0"/>
          </a:p>
        </p:txBody>
      </p:sp>
      <p:sp>
        <p:nvSpPr>
          <p:cNvPr id="4" name="Beat"/>
          <p:cNvSpPr/>
          <p:nvPr/>
        </p:nvSpPr>
        <p:spPr>
          <a:xfrm>
            <a:off x="548640" y="2286000"/>
            <a:ext cx="3520440" cy="3611880"/>
          </a:xfrm>
          <a:prstGeom prst="roundRect">
            <a:avLst>
              <a:gd name="adj" fmla="val 3896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ESCENA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Más sazón</a:t>
            </a:r>
            <a:endParaRPr lang="en-US" sz="2200" dirty="0"/>
          </a:p>
        </p:txBody>
      </p:sp>
      <p:sp>
        <p:nvSpPr>
          <p:cNvPr id="7" name="Burbuja"/>
          <p:cNvSpPr/>
          <p:nvPr/>
        </p:nvSpPr>
        <p:spPr>
          <a:xfrm>
            <a:off x="822960" y="3429000"/>
            <a:ext cx="2971800" cy="960120"/>
          </a:xfrm>
          <a:prstGeom prst="round2DiagRect">
            <a:avLst>
              <a:gd name="adj" fmla="val 33333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Chayi, ¿cómo le pongo más sazón a esta cena?</a:t>
            </a:r>
            <a:endParaRPr lang="en-US" sz="1400" dirty="0"/>
          </a:p>
        </p:txBody>
      </p:sp>
      <p:sp>
        <p:nvSpPr>
          <p:cNvPr id="8" name="Burbuja"/>
          <p:cNvSpPr/>
          <p:nvPr/>
        </p:nvSpPr>
        <p:spPr>
          <a:xfrm flipH="1">
            <a:off x="822960" y="4572000"/>
            <a:ext cx="2971800" cy="960120"/>
          </a:xfrm>
          <a:prstGeom prst="round2DiagRect">
            <a:avLst>
              <a:gd name="adj" fmla="val 33333"/>
            </a:avLst>
          </a:prstGeom>
          <a:solidFill>
            <a:schemeClr val="accent2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Entran cuatro músicos tocando merengue.</a:t>
            </a:r>
            <a:endParaRPr lang="en-US" sz="1400" dirty="0"/>
          </a:p>
        </p:txBody>
      </p:sp>
      <p:sp>
        <p:nvSpPr>
          <p:cNvPr id="9" name="Beat"/>
          <p:cNvSpPr/>
          <p:nvPr/>
        </p:nvSpPr>
        <p:spPr>
          <a:xfrm>
            <a:off x="4297680" y="2286000"/>
            <a:ext cx="3520440" cy="3611880"/>
          </a:xfrm>
          <a:prstGeom prst="roundRect">
            <a:avLst>
              <a:gd name="adj" fmla="val 3896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ESCENA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Más sabor</a:t>
            </a:r>
            <a:endParaRPr lang="en-US" sz="2200" dirty="0"/>
          </a:p>
        </p:txBody>
      </p:sp>
      <p:sp>
        <p:nvSpPr>
          <p:cNvPr id="12" name="Burbuja"/>
          <p:cNvSpPr/>
          <p:nvPr/>
        </p:nvSpPr>
        <p:spPr>
          <a:xfrm>
            <a:off x="4572000" y="3429000"/>
            <a:ext cx="2971800" cy="960120"/>
          </a:xfrm>
          <a:prstGeom prst="round2DiagRect">
            <a:avLst>
              <a:gd name="adj" fmla="val 33333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No, Chayi. Hablo de más sabor.</a:t>
            </a:r>
            <a:endParaRPr lang="en-US" sz="1400" dirty="0"/>
          </a:p>
        </p:txBody>
      </p:sp>
      <p:sp>
        <p:nvSpPr>
          <p:cNvPr id="13" name="Burbuja"/>
          <p:cNvSpPr/>
          <p:nvPr/>
        </p:nvSpPr>
        <p:spPr>
          <a:xfrm flipH="1">
            <a:off x="4572000" y="4572000"/>
            <a:ext cx="2971800" cy="960120"/>
          </a:xfrm>
          <a:prstGeom prst="round2DiagRect">
            <a:avLst>
              <a:gd name="adj" fmla="val 33333"/>
            </a:avLst>
          </a:prstGeom>
          <a:solidFill>
            <a:schemeClr val="accent2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Mismos músicos… ahora con una bachatica.</a:t>
            </a:r>
            <a:endParaRPr lang="en-US" sz="1400" dirty="0"/>
          </a:p>
        </p:txBody>
      </p:sp>
      <p:sp>
        <p:nvSpPr>
          <p:cNvPr id="14" name="Beat"/>
          <p:cNvSpPr/>
          <p:nvPr/>
        </p:nvSpPr>
        <p:spPr>
          <a:xfrm>
            <a:off x="8046720" y="2286000"/>
            <a:ext cx="3520440" cy="3611880"/>
          </a:xfrm>
          <a:prstGeom prst="roundRect">
            <a:avLst>
              <a:gd name="adj" fmla="val 3896"/>
            </a:avLst>
          </a:prstGeom>
          <a:solidFill>
            <a:schemeClr val="accent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ESCENA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El doble de internet</a:t>
            </a:r>
            <a:endParaRPr lang="en-US" sz="2200" dirty="0"/>
          </a:p>
        </p:txBody>
      </p:sp>
      <p:sp>
        <p:nvSpPr>
          <p:cNvPr id="17" name="Burbuja"/>
          <p:cNvSpPr/>
          <p:nvPr/>
        </p:nvSpPr>
        <p:spPr>
          <a:xfrm>
            <a:off x="8321040" y="3429000"/>
            <a:ext cx="2971800" cy="960120"/>
          </a:xfrm>
          <a:prstGeom prst="round2DiagRect">
            <a:avLst>
              <a:gd name="adj" fmla="val 33333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Chayi… ¿y si me das el doble de internet?</a:t>
            </a:r>
            <a:endParaRPr lang="en-US" sz="1400" dirty="0"/>
          </a:p>
        </p:txBody>
      </p:sp>
      <p:sp>
        <p:nvSpPr>
          <p:cNvPr id="18" name="Burbuja"/>
          <p:cNvSpPr/>
          <p:nvPr/>
        </p:nvSpPr>
        <p:spPr>
          <a:xfrm flipH="1">
            <a:off x="8321040" y="4572000"/>
            <a:ext cx="2971800" cy="960120"/>
          </a:xfrm>
          <a:prstGeom prst="round2DiagRect">
            <a:avLst>
              <a:gd name="adj" fmla="val 33333"/>
            </a:avLst>
          </a:prstGeom>
          <a:solidFill>
            <a:schemeClr val="accent3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«Déjame pensar… Eso te lo da Viva.»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743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Reason why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069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Por qué creerle a Viva cuando dice «pide más».</a:t>
            </a:r>
            <a:endParaRPr lang="en-US" sz="2000" dirty="0"/>
          </a:p>
        </p:txBody>
      </p:sp>
      <p:pic>
        <p:nvPicPr>
          <p:cNvPr id="5" name="Chay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554480"/>
            <a:ext cx="2926080" cy="2926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Planes Infinito Plus: el doble de data por 3 meses</a:t>
            </a:r>
            <a:endParaRPr lang="en-US" sz="3200" dirty="0"/>
          </a:p>
        </p:txBody>
      </p:sp>
      <p:sp>
        <p:nvSpPr>
          <p:cNvPr id="3" name="Stat 2X"/>
          <p:cNvSpPr/>
          <p:nvPr/>
        </p:nvSpPr>
        <p:spPr>
          <a:xfrm>
            <a:off x="548640" y="1417320"/>
            <a:ext cx="5120640" cy="45262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el doble de data</a:t>
            </a:r>
            <a:endParaRPr lang="en-US" sz="2800" dirty="0"/>
          </a:p>
        </p:txBody>
      </p:sp>
      <p:sp>
        <p:nvSpPr>
          <p:cNvPr id="6" name="Chip 3 meses"/>
          <p:cNvSpPr/>
          <p:nvPr/>
        </p:nvSpPr>
        <p:spPr>
          <a:xfrm>
            <a:off x="868680" y="4389120"/>
            <a:ext cx="2377440" cy="594360"/>
          </a:xfrm>
          <a:prstGeom prst="roundRect">
            <a:avLst>
              <a:gd name="adj" fmla="val 49231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389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por 3 meses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166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Actívate o pórtate a Planes Infinito Plus desde el Plan XS.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POR QUÉ FUNCIONA</a:t>
            </a:r>
            <a:endParaRPr lang="en-US" sz="1200" dirty="0"/>
          </a:p>
        </p:txBody>
      </p:sp>
      <p:sp>
        <p:nvSpPr>
          <p:cNvPr id="10" name="Círculo icono"/>
          <p:cNvSpPr/>
          <p:nvPr/>
        </p:nvSpPr>
        <p:spPr>
          <a:xfrm>
            <a:off x="612648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o MdDataUs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788" y="205282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995160" y="18562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Llega cuando más se consume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2402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Diciembre y enero: videollamadas, fotos, videos y música en familia.</a:t>
            </a:r>
            <a:endParaRPr lang="en-US" sz="1400" dirty="0"/>
          </a:p>
        </p:txBody>
      </p:sp>
      <p:sp>
        <p:nvSpPr>
          <p:cNvPr id="14" name="Círculo icono"/>
          <p:cNvSpPr/>
          <p:nvPr/>
        </p:nvSpPr>
        <p:spPr>
          <a:xfrm>
            <a:off x="6126480" y="32461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o MdLooksTw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788" y="342442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995160" y="32278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 beneficio que se dice en una palabra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995160" y="36118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«El doble» se entiende al instante y conecta directo con el pedido de mamá.</a:t>
            </a:r>
            <a:endParaRPr lang="en-US" sz="1400" dirty="0"/>
          </a:p>
        </p:txBody>
      </p:sp>
      <p:sp>
        <p:nvSpPr>
          <p:cNvPr id="18" name="Círculo icono"/>
          <p:cNvSpPr/>
          <p:nvPr/>
        </p:nvSpPr>
        <p:spPr>
          <a:xfrm>
            <a:off x="6126480" y="46177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cono MdUpgrad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88" y="47960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95160" y="45994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Puerta de entrada desde XS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995160" y="498348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Facilita el salto a Infinito Plus para clientes actuales y nuevos por portabilidad.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Plan Prepago: más de todo desde el primer día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Actívate o pórtate a Plan Prepago y recibe:</a:t>
            </a:r>
            <a:endParaRPr lang="en-US" sz="1800" dirty="0"/>
          </a:p>
        </p:txBody>
      </p:sp>
      <p:sp>
        <p:nvSpPr>
          <p:cNvPr id="4" name="Beneficio prepago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pic>
        <p:nvPicPr>
          <p:cNvPr id="5" name="Icono benefici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10GB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 datos móviles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 lugar de 5GB · vigencia de 5 días</a:t>
            </a:r>
            <a:endParaRPr lang="en-US" sz="1400" dirty="0"/>
          </a:p>
        </p:txBody>
      </p:sp>
      <p:sp>
        <p:nvSpPr>
          <p:cNvPr id="9" name="Beneficio prepago"/>
          <p:cNvSpPr/>
          <p:nvPr/>
        </p:nvSpPr>
        <p:spPr>
          <a:xfrm>
            <a:off x="4297680" y="1920240"/>
            <a:ext cx="3520440" cy="32918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pic>
        <p:nvPicPr>
          <p:cNvPr id="10" name="Icono benefici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945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Ilimitada</a:t>
            </a:r>
            <a:endParaRPr lang="en-US" sz="46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voz dentro de la Red Viva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Habla sin contar los minutos con quien está en Viva</a:t>
            </a:r>
            <a:endParaRPr lang="en-US" sz="1400" dirty="0"/>
          </a:p>
        </p:txBody>
      </p:sp>
      <p:sp>
        <p:nvSpPr>
          <p:cNvPr id="14" name="Beneficio prepago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pic>
        <p:nvPicPr>
          <p:cNvPr id="15" name="Icono benefici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945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RD$100</a:t>
            </a:r>
            <a:endParaRPr lang="en-US" sz="60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 balance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251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Para usar como quieras desde el inicio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Lectura creativa: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beneficio es un pedido que Chayi puede malinterpretar (más gigas, hablar sin parar, tener balance) y que Viva resuelve de verdad.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Cada beneficio, un pedido que Chayi malinterpreta</a:t>
            </a:r>
            <a:endParaRPr lang="en-US" sz="3200" dirty="0"/>
          </a:p>
        </p:txBody>
      </p:sp>
      <p:graphicFrame>
        <p:nvGraphicFramePr>
          <p:cNvPr id="18" name="Tabla pedi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66160"/>
                <a:gridCol w="3291840"/>
                <a:gridCol w="13716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El pedido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 ocurrencia de Chayi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Eso te lo da Viva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Plan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«Chayi, dame más gigas.»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Pone a toda la familia a bailar una jiga irlandesa.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10GB en lugar de 5GB, con vigencia de 5 días.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Prepago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«Chayi, quiero hablar sin límite.»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Chayi empieza a hablar… y no para nunca.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Voz ilimitada dentro de la Red Viva.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Prepago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«Chayi, necesito balance.»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abuela aparece haciendo yoga en un solo pie.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RD$100 en balance.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Prepago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«Chayi, ¿y si me das el doble?»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Aparecen dos perniles en la mesa (y dos tías).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 doble de data por 3 meses desde el Plan XS.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Infinito Plus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Sistema escalable: cápsulas de 10" para redes, menciones en radio y piezas gráficas con la misma fórmula.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Piezas gráficas: key visuals</a:t>
            </a:r>
            <a:endParaRPr lang="en-US" sz="3200" dirty="0"/>
          </a:p>
        </p:txBody>
      </p:sp>
      <p:sp>
        <p:nvSpPr>
          <p:cNvPr id="3" name="Espacio gráfica: KV · INFINITO PLUS"/>
          <p:cNvSpPr/>
          <p:nvPr/>
        </p:nvSpPr>
        <p:spPr>
          <a:xfrm>
            <a:off x="548640" y="1417320"/>
            <a:ext cx="544068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4" name="Icono espacio gráfi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8940" y="2240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9900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KV · INFINITO PLUS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30098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Mamá en la cocina, músicos de fondo y Chayi en el celular.</a:t>
            </a:r>
            <a:endParaRPr lang="en-US" sz="1200" dirty="0"/>
          </a:p>
        </p:txBody>
      </p:sp>
      <p:sp>
        <p:nvSpPr>
          <p:cNvPr id="7" name="Espacio gráfica: KV · PLAN PREPAGO"/>
          <p:cNvSpPr/>
          <p:nvPr/>
        </p:nvSpPr>
        <p:spPr>
          <a:xfrm>
            <a:off x="6172200" y="1417320"/>
            <a:ext cx="544068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8" name="Icono espacio gráfi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224028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55080" y="29900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KV · PLAN PREPAGO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330098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 familia bailando una «jiga» mientras Chayi sonríe.</a:t>
            </a:r>
            <a:endParaRPr lang="en-US" sz="1200" dirty="0"/>
          </a:p>
        </p:txBody>
      </p:sp>
      <p:sp>
        <p:nvSpPr>
          <p:cNvPr id="11" name="Burbuja"/>
          <p:cNvSpPr/>
          <p:nvPr/>
        </p:nvSpPr>
        <p:spPr>
          <a:xfrm>
            <a:off x="548640" y="4846320"/>
            <a:ext cx="5440680" cy="658368"/>
          </a:xfrm>
          <a:prstGeom prst="round2DiagRect">
            <a:avLst>
              <a:gd name="adj" fmla="val 48611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Le pedí el doble de internet a la IA. Me mandó para Viva.</a:t>
            </a:r>
            <a:endParaRPr lang="en-US" sz="1500" dirty="0"/>
          </a:p>
        </p:txBody>
      </p:sp>
      <p:sp>
        <p:nvSpPr>
          <p:cNvPr id="12" name="Burbuja"/>
          <p:cNvSpPr/>
          <p:nvPr/>
        </p:nvSpPr>
        <p:spPr>
          <a:xfrm>
            <a:off x="6172200" y="4846320"/>
            <a:ext cx="5440680" cy="658368"/>
          </a:xfrm>
          <a:prstGeom prst="round2DiagRect">
            <a:avLst>
              <a:gd name="adj" fmla="val 48611"/>
            </a:avLst>
          </a:prstGeom>
          <a:solidFill>
            <a:schemeClr val="accent1"/>
          </a:solidFill>
          <a:ln/>
        </p:spPr>
        <p:txBody>
          <a:bodyPr wrap="square" lIns="1016" tIns="2540" rIns="2540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Le pedí más gigas a la IA. Me puso a bailar una jiga.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6235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Oferta: doble de data x 3 meses · Infinito Plus desde XS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172200" y="56235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Oferta: 10GB (en lugar de 5GB) · voz ilimitada · RD$100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Piezas gráficas: exterior, redes y digital</a:t>
            </a:r>
            <a:endParaRPr lang="en-US" sz="3200" dirty="0"/>
          </a:p>
        </p:txBody>
      </p:sp>
      <p:sp>
        <p:nvSpPr>
          <p:cNvPr id="3" name="Espacio gráfica: VALLA · 3:1"/>
          <p:cNvSpPr/>
          <p:nvPr/>
        </p:nvSpPr>
        <p:spPr>
          <a:xfrm>
            <a:off x="548640" y="1417320"/>
            <a:ext cx="6583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4" name="Icono espacio gráfi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9078" y="179313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38567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VALLA · 3:1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69656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«Le pedí sazón a la IA. Me mandó un merengue.»</a:t>
            </a:r>
            <a:endParaRPr lang="en-US" sz="1200" dirty="0"/>
          </a:p>
        </p:txBody>
      </p:sp>
      <p:sp>
        <p:nvSpPr>
          <p:cNvPr id="7" name="Espacio gráfica: BANNER DIGITAL"/>
          <p:cNvSpPr/>
          <p:nvPr/>
        </p:nvSpPr>
        <p:spPr>
          <a:xfrm>
            <a:off x="548640" y="3794760"/>
            <a:ext cx="65836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8" name="Icono espacio gráfi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808" y="3931920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4272991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BANNER DIGITAL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4583887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«El doble de data x 3 meses. Pide más.»</a:t>
            </a:r>
            <a:endParaRPr lang="en-US" sz="1200" dirty="0"/>
          </a:p>
        </p:txBody>
      </p:sp>
      <p:sp>
        <p:nvSpPr>
          <p:cNvPr id="11" name="Espacio gráfica: POST 1:1"/>
          <p:cNvSpPr/>
          <p:nvPr/>
        </p:nvSpPr>
        <p:spPr>
          <a:xfrm>
            <a:off x="7360920" y="1417320"/>
            <a:ext cx="2377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12" name="Icono espacio gráfi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2" y="1864462"/>
            <a:ext cx="523037" cy="5230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543800" y="249722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POST 1:1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280812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«Le pedí sabor. Me puso una bachata.»</a:t>
            </a:r>
            <a:endParaRPr lang="en-US" sz="1200" dirty="0"/>
          </a:p>
        </p:txBody>
      </p:sp>
      <p:sp>
        <p:nvSpPr>
          <p:cNvPr id="15" name="Espacio gráfica: STORY 9:16"/>
          <p:cNvSpPr/>
          <p:nvPr/>
        </p:nvSpPr>
        <p:spPr>
          <a:xfrm>
            <a:off x="9966960" y="1417320"/>
            <a:ext cx="1645920" cy="34290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16" name="Icono espacio gráfi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233172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149840" y="3081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STORY 9:16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0195560" y="339242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«¿Más balance? Mejor RD$100.»</a:t>
            </a:r>
            <a:endParaRPr lang="en-US" sz="1200" dirty="0"/>
          </a:p>
        </p:txBody>
      </p:sp>
      <p:sp>
        <p:nvSpPr>
          <p:cNvPr id="19" name="Espacio gráfica: PDV / VOLANTE"/>
          <p:cNvSpPr/>
          <p:nvPr/>
        </p:nvSpPr>
        <p:spPr>
          <a:xfrm>
            <a:off x="7360920" y="3977640"/>
            <a:ext cx="23774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pic>
        <p:nvPicPr>
          <p:cNvPr id="20" name="Icono espacio gráfi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085" y="4114800"/>
            <a:ext cx="191110" cy="19111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543800" y="441563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PDV / VOLANTE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Línea de titulares: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«Le pedí ___ a la IA. Me ___.» — siempre con la oferta y el remate «Eso te lo da Viva».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FIRMA DE CAMPAÑA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chemeClr val="bg1"/>
                </a:solidFill>
              </a:rPr>
              <a:t>Esta Navidad, pide más.</a:t>
            </a:r>
            <a:endParaRPr lang="en-US" sz="6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14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Viva, estamos de tu lado.</a:t>
            </a:r>
            <a:endParaRPr lang="en-US" sz="2800" dirty="0"/>
          </a:p>
        </p:txBody>
      </p:sp>
      <p:sp>
        <p:nvSpPr>
          <p:cNvPr id="5" name="Halo Chayi"/>
          <p:cNvSpPr/>
          <p:nvPr/>
        </p:nvSpPr>
        <p:spPr>
          <a:xfrm>
            <a:off x="7818120" y="914400"/>
            <a:ext cx="3657600" cy="36576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Chay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143000"/>
            <a:ext cx="3108960" cy="3108960"/>
          </a:xfrm>
          <a:prstGeom prst="rect">
            <a:avLst/>
          </a:prstGeom>
        </p:spPr>
      </p:pic>
      <p:sp>
        <p:nvSpPr>
          <p:cNvPr id="7" name="Espacio logo Viva"/>
          <p:cNvSpPr/>
          <p:nvPr/>
        </p:nvSpPr>
        <p:spPr>
          <a:xfrm>
            <a:off x="8275320" y="4983480"/>
            <a:ext cx="2743200" cy="868680"/>
          </a:xfrm>
          <a:prstGeom prst="roundRect">
            <a:avLst>
              <a:gd name="adj" fmla="val 12632"/>
            </a:avLst>
          </a:prstGeom>
          <a:ln w="19050">
            <a:solidFill>
              <a:schemeClr val="bg1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8275320" y="4983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LOGO VIVA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a Pide Mas">
  <a:themeElements>
    <a:clrScheme name="Viva Pide Mas">
      <a:dk1>
        <a:srgbClr val="1E1633"/>
      </a:dk1>
      <a:lt1>
        <a:srgbClr val="FFFFFF"/>
      </a:lt1>
      <a:dk2>
        <a:srgbClr val="2B1F4D"/>
      </a:dk2>
      <a:lt2>
        <a:srgbClr val="F3F1F8"/>
      </a:lt2>
      <a:accent1>
        <a:srgbClr val="8778B2"/>
      </a:accent1>
      <a:accent2>
        <a:srgbClr val="0DC0C0"/>
      </a:accent2>
      <a:accent3>
        <a:srgbClr val="99CF16"/>
      </a:accent3>
      <a:accent4>
        <a:srgbClr val="E0457B"/>
      </a:accent4>
      <a:accent5>
        <a:srgbClr val="F6C445"/>
      </a:accent5>
      <a:accent6>
        <a:srgbClr val="5B4B8A"/>
      </a:accent6>
      <a:hlink>
        <a:srgbClr val="0DC0C0"/>
      </a:hlink>
      <a:folHlink>
        <a:srgbClr val="8778B2"/>
      </a:folHlink>
    </a:clrScheme>
    <a:fontScheme name="Viva Pide M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Viva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Viva · Pide más · Campaña Navidad</dc:title>
  <dc:subject>PptxGenJS Presentation</dc:subject>
  <dc:creator>Dirección Creativa</dc:creator>
  <cp:lastModifiedBy>Dirección Creativa</cp:lastModifiedBy>
  <cp:revision>1</cp:revision>
  <dcterms:created xsi:type="dcterms:W3CDTF">2026-10-10T19:12:15Z</dcterms:created>
  <dcterms:modified xsi:type="dcterms:W3CDTF">2026-10-10T19:12:15Z</dcterms:modified>
</cp:coreProperties>
</file>